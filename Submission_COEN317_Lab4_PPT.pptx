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5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687" r:id="rId2"/>
    <p:sldMasterId id="2147483705" r:id="rId3"/>
    <p:sldMasterId id="2147483723" r:id="rId4"/>
    <p:sldMasterId id="2147483735" r:id="rId5"/>
    <p:sldMasterId id="2147483753" r:id="rId6"/>
  </p:sldMasterIdLst>
  <p:sldIdLst>
    <p:sldId id="256" r:id="rId7"/>
    <p:sldId id="268" r:id="rId8"/>
    <p:sldId id="257" r:id="rId9"/>
    <p:sldId id="259" r:id="rId10"/>
    <p:sldId id="264" r:id="rId11"/>
    <p:sldId id="266" r:id="rId12"/>
    <p:sldId id="269" r:id="rId13"/>
    <p:sldId id="258" r:id="rId14"/>
    <p:sldId id="263" r:id="rId15"/>
    <p:sldId id="265" r:id="rId16"/>
    <p:sldId id="267" r:id="rId17"/>
    <p:sldId id="260" r:id="rId18"/>
    <p:sldId id="261" r:id="rId19"/>
    <p:sldId id="262" r:id="rId20"/>
    <p:sldId id="270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2858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21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25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2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35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89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7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2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18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02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89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2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844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921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1254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6081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004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8398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8486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388630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32905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9270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5318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05754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71565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7288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0531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82910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63809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80008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99773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87475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94781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9864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73613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88278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59497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01913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22615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75710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25366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2847719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124597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38768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75439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58171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03027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29053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4325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51490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00887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38803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89149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7245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63521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32014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9174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7419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48388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69650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58517"/>
      </p:ext>
    </p:extLst>
  </p:cSld>
  <p:clrMapOvr>
    <a:masterClrMapping/>
  </p:clrMapOvr>
  <p:hf sldNum="0"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65422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78710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36853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7566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34529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704051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91267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66944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8467253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62690"/>
      </p:ext>
    </p:extLst>
  </p:cSld>
  <p:clrMapOvr>
    <a:masterClrMapping/>
  </p:clrMapOvr>
  <p:hf sldNum="0"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92638"/>
      </p:ext>
    </p:extLst>
  </p:cSld>
  <p:clrMapOvr>
    <a:masterClrMapping/>
  </p:clrMapOvr>
  <p:hf sldNum="0"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44710"/>
      </p:ext>
    </p:extLst>
  </p:cSld>
  <p:clrMapOvr>
    <a:masterClrMapping/>
  </p:clrMapOvr>
  <p:hf sldNum="0"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203678"/>
      </p:ext>
    </p:extLst>
  </p:cSld>
  <p:clrMapOvr>
    <a:masterClrMapping/>
  </p:clrMapOvr>
  <p:hf sldNum="0"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14998"/>
      </p:ext>
    </p:extLst>
  </p:cSld>
  <p:clrMapOvr>
    <a:masterClrMapping/>
  </p:clrMapOvr>
  <p:hf sldNum="0"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20824"/>
      </p:ext>
    </p:extLst>
  </p:cSld>
  <p:clrMapOvr>
    <a:masterClrMapping/>
  </p:clrMapOvr>
  <p:hf sldNum="0"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21044"/>
      </p:ext>
    </p:extLst>
  </p:cSld>
  <p:clrMapOvr>
    <a:masterClrMapping/>
  </p:clrMapOvr>
  <p:hf sldNum="0"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24762"/>
      </p:ext>
    </p:extLst>
  </p:cSld>
  <p:clrMapOvr>
    <a:masterClrMapping/>
  </p:clrMapOvr>
  <p:hf sldNum="0"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81638"/>
      </p:ext>
    </p:extLst>
  </p:cSld>
  <p:clrMapOvr>
    <a:masterClrMapping/>
  </p:clrMapOvr>
  <p:hf sldNum="0"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10463"/>
      </p:ext>
    </p:extLst>
  </p:cSld>
  <p:clrMapOvr>
    <a:masterClrMapping/>
  </p:clrMapOvr>
  <p:hf sldNum="0"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2912"/>
      </p:ext>
    </p:extLst>
  </p:cSld>
  <p:clrMapOvr>
    <a:masterClrMapping/>
  </p:clrMapOvr>
  <p:hf sldNum="0"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84356"/>
      </p:ext>
    </p:extLst>
  </p:cSld>
  <p:clrMapOvr>
    <a:masterClrMapping/>
  </p:clrMapOvr>
  <p:hf sldNum="0"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98427"/>
      </p:ext>
    </p:extLst>
  </p:cSld>
  <p:clrMapOvr>
    <a:masterClrMapping/>
  </p:clrMapOvr>
  <p:hf sldNum="0"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82411"/>
      </p:ext>
    </p:extLst>
  </p:cSld>
  <p:clrMapOvr>
    <a:masterClrMapping/>
  </p:clrMapOvr>
  <p:hf sldNum="0"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69776"/>
      </p:ext>
    </p:extLst>
  </p:cSld>
  <p:clrMapOvr>
    <a:masterClrMapping/>
  </p:clrMapOvr>
  <p:hf sldNum="0" hdr="0" ftr="0" dt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57677"/>
      </p:ext>
    </p:extLst>
  </p:cSld>
  <p:clrMapOvr>
    <a:masterClrMapping/>
  </p:clrMapOvr>
  <p:hf sldNum="0"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40591"/>
      </p:ext>
    </p:extLst>
  </p:cSld>
  <p:clrMapOvr>
    <a:masterClrMapping/>
  </p:clrMapOvr>
  <p:hf sldNum="0" hdr="0" ftr="0" dt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32046"/>
      </p:ext>
    </p:extLst>
  </p:cSld>
  <p:clrMapOvr>
    <a:masterClrMapping/>
  </p:clrMapOvr>
  <p:hf sldNum="0" hdr="0" ft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72997"/>
      </p:ext>
    </p:extLst>
  </p:cSld>
  <p:clrMapOvr>
    <a:masterClrMapping/>
  </p:clrMapOvr>
  <p:hf sldNum="0" hdr="0" ft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80889"/>
      </p:ext>
    </p:extLst>
  </p:cSld>
  <p:clrMapOvr>
    <a:masterClrMapping/>
  </p:clrMapOvr>
  <p:hf sldNum="0" hdr="0" ft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79739"/>
      </p:ext>
    </p:extLst>
  </p:cSld>
  <p:clrMapOvr>
    <a:masterClrMapping/>
  </p:clrMapOvr>
  <p:hf sldNum="0" hdr="0" ft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2686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6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5.xml"/><Relationship Id="rId17" Type="http://schemas.openxmlformats.org/officeDocument/2006/relationships/slideLayout" Target="../slideLayouts/slideLayout90.xml"/><Relationship Id="rId2" Type="http://schemas.openxmlformats.org/officeDocument/2006/relationships/slideLayout" Target="../slideLayouts/slideLayout75.xml"/><Relationship Id="rId16" Type="http://schemas.openxmlformats.org/officeDocument/2006/relationships/slideLayout" Target="../slideLayouts/slideLayout89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5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3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3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670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375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01739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476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911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olographic neon on a shiny background">
            <a:extLst>
              <a:ext uri="{FF2B5EF4-FFF2-40B4-BE49-F238E27FC236}">
                <a16:creationId xmlns:a16="http://schemas.microsoft.com/office/drawing/2014/main" id="{7FA1AC00-4A33-ED56-CEEB-D2FBF27A248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608" b="122"/>
          <a:stretch>
            <a:fillRect/>
          </a:stretch>
        </p:blipFill>
        <p:spPr>
          <a:xfrm>
            <a:off x="-181069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4E1115-4AD4-954A-7F5B-FB148A788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4566" y="380247"/>
            <a:ext cx="11090495" cy="40468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COEN 317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LAB 4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sz="5400" dirty="0">
                <a:solidFill>
                  <a:srgbClr val="FFFFFF"/>
                </a:solidFill>
              </a:rPr>
              <a:t> </a:t>
            </a: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5400" u="sng" dirty="0">
                <a:solidFill>
                  <a:srgbClr val="FFFFFF"/>
                </a:solidFill>
              </a:rPr>
              <a:t>PRESENTATION</a:t>
            </a:r>
            <a:br>
              <a:rPr lang="en-US" sz="5400" dirty="0">
                <a:solidFill>
                  <a:srgbClr val="FFFFFF"/>
                </a:solidFill>
              </a:rPr>
            </a:br>
            <a:endParaRPr lang="fr-CA" sz="5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70718-BA8D-6D15-9983-EB0AE6805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5269651"/>
            <a:ext cx="7588155" cy="1414091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Simon Guindon - 40058301 </a:t>
            </a:r>
            <a:br>
              <a:rPr lang="en-US" sz="2200" dirty="0">
                <a:solidFill>
                  <a:srgbClr val="FFFFFF"/>
                </a:solidFill>
              </a:rPr>
            </a:br>
            <a:r>
              <a:rPr lang="en-US" sz="2200" dirty="0">
                <a:solidFill>
                  <a:srgbClr val="FFFFFF"/>
                </a:solidFill>
              </a:rPr>
              <a:t>Derek Saint-Jean - 40286262</a:t>
            </a:r>
            <a:endParaRPr lang="fr-CA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837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4F306E5-3F20-4C4C-9027-046517F6F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2650020"/>
            <a:ext cx="10653578" cy="1557960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PART 1</a:t>
            </a:r>
            <a:br>
              <a:rPr lang="en-US" sz="5400" dirty="0"/>
            </a:br>
            <a:r>
              <a:rPr lang="en-US" sz="5400" dirty="0"/>
              <a:t>Interrupts with the AXI Timer</a:t>
            </a:r>
            <a:endParaRPr lang="fr-CA" sz="5400" dirty="0"/>
          </a:p>
        </p:txBody>
      </p:sp>
    </p:spTree>
    <p:extLst>
      <p:ext uri="{BB962C8B-B14F-4D97-AF65-F5344CB8AC3E}">
        <p14:creationId xmlns:p14="http://schemas.microsoft.com/office/powerpoint/2010/main" val="2611452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0B86-98AD-B6D2-9047-767A89884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Concept Diagram - Part 1</a:t>
            </a:r>
            <a:endParaRPr lang="fr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8FFD6-10FA-16C6-7482-AF9C4CC6A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1524"/>
            <a:ext cx="12192000" cy="301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2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DA3D6-9B44-B3AC-7A39-B91FC7AB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0FC05-345A-2372-2580-62D832EAC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 Diagram - Part 1</a:t>
            </a:r>
            <a:endParaRPr lang="fr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C40CE1-DD34-8180-34F8-47BD18F96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483" y="1103933"/>
            <a:ext cx="3669126" cy="55698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516F57-BDFB-F315-8EFF-C19D7DDD1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259306"/>
            <a:ext cx="2740924" cy="659869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1B84C1-C9A1-D6E0-497C-F31AF71D4864}"/>
              </a:ext>
            </a:extLst>
          </p:cNvPr>
          <p:cNvCxnSpPr/>
          <p:nvPr/>
        </p:nvCxnSpPr>
        <p:spPr>
          <a:xfrm>
            <a:off x="4974609" y="1241946"/>
            <a:ext cx="1121391" cy="4421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E39DFDF-6FAD-3CC7-F421-21695D0C3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-1"/>
            <a:ext cx="8349615" cy="68580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691BE2-53F7-3E80-A16A-BA42C07BE40E}"/>
              </a:ext>
            </a:extLst>
          </p:cNvPr>
          <p:cNvCxnSpPr>
            <a:cxnSpLocks/>
          </p:cNvCxnSpPr>
          <p:nvPr/>
        </p:nvCxnSpPr>
        <p:spPr>
          <a:xfrm>
            <a:off x="3721100" y="6309360"/>
            <a:ext cx="3162300" cy="502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515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A8CE4-89F0-D37D-1288-3F47B6309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E094F-F101-C957-0179-ED808A8C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- Part 1</a:t>
            </a:r>
            <a:endParaRPr lang="fr-CA"/>
          </a:p>
        </p:txBody>
      </p:sp>
      <p:pic>
        <p:nvPicPr>
          <p:cNvPr id="4" name="Image 19" descr="Une image contenant texte, capture d’écran, logiciel, affichage&#10;&#10;Le contenu généré par l’IA peut être incorrect.">
            <a:extLst>
              <a:ext uri="{FF2B5EF4-FFF2-40B4-BE49-F238E27FC236}">
                <a16:creationId xmlns:a16="http://schemas.microsoft.com/office/drawing/2014/main" id="{7476366C-B0D8-CD40-4B68-D617F4D04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33" b="30724"/>
          <a:stretch>
            <a:fillRect/>
          </a:stretch>
        </p:blipFill>
        <p:spPr bwMode="auto">
          <a:xfrm>
            <a:off x="0" y="1114769"/>
            <a:ext cx="5000624" cy="5855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1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8AEAC30-F8F2-8DF0-E0FC-FF747B2F8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4" y="17953"/>
            <a:ext cx="6265602" cy="6840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0405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AEBDD-8B42-2419-8AE3-1743C246C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E327-3884-D471-A394-40E8FFFD1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631" y="140325"/>
            <a:ext cx="10653578" cy="1132258"/>
          </a:xfrm>
        </p:spPr>
        <p:txBody>
          <a:bodyPr/>
          <a:lstStyle/>
          <a:p>
            <a:r>
              <a:rPr lang="en-US"/>
              <a:t>Benefits, Difficulties, Limitations - Part 1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FD252-330E-323D-D400-DFAA4EBA3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64268"/>
            <a:ext cx="4095155" cy="4593828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Difficulties:</a:t>
            </a:r>
          </a:p>
          <a:p>
            <a:r>
              <a:rPr lang="en-US" sz="1600"/>
              <a:t>Distinguishing which timer (Timer 0 vs. Timer 1) caused the interrupt, since the hardware ORs them into a single signal.</a:t>
            </a:r>
          </a:p>
          <a:p>
            <a:r>
              <a:rPr lang="en-US" sz="1600"/>
              <a:t>Writing the specific '1' to the TINT bit in the Status Register (TCSR) to prevent the system from hanging in an infinite ISR loop.</a:t>
            </a:r>
          </a:p>
          <a:p>
            <a:r>
              <a:rPr lang="en-US" sz="1600"/>
              <a:t>Understanding the specific order of operations for the Load bit (setting 0x0f4 to load, then 0x0d4 to run) to properly start the counters.</a:t>
            </a:r>
          </a:p>
          <a:p>
            <a:endParaRPr lang="fr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5061B2-5AA4-D6C6-FDDE-1F9B75D994F9}"/>
              </a:ext>
            </a:extLst>
          </p:cNvPr>
          <p:cNvSpPr txBox="1"/>
          <p:nvPr/>
        </p:nvSpPr>
        <p:spPr>
          <a:xfrm>
            <a:off x="4095155" y="864268"/>
            <a:ext cx="4209861" cy="4858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spcBef>
                <a:spcPts val="1000"/>
              </a:spcBef>
              <a:defRPr/>
            </a:pPr>
            <a:r>
              <a:rPr lang="fr-CA" sz="2000" b="1"/>
              <a:t>Limitations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:</a:t>
            </a:r>
          </a:p>
          <a:p>
            <a:pPr marL="228600" lvl="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1600"/>
              <a:t>The AXI Timer IP provides only one physical interrupt line for both counters, requiring software overhead to poll registers and identify the source</a:t>
            </a:r>
            <a:endParaRPr lang="en-US" sz="1600">
              <a:solidFill>
                <a:prstClr val="black"/>
              </a:solidFill>
              <a:latin typeface="Neue Haas Grotesk Text Pro"/>
            </a:endParaRPr>
          </a:p>
          <a:p>
            <a:pPr marL="228600" lvl="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1600"/>
              <a:t>The time delay between the hardware counter rolling over and the actual execution of the Timer_InterruptHandler routine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  <a:p>
            <a:pPr marL="228600" lvl="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1600"/>
              <a:t>Restricted to 32-bit counting (unless cascaded), limiting the maximum duration trackable without a prescaler or software extension.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CA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4721F9-54E1-2F25-3E86-57E9B1B1AC3A}"/>
              </a:ext>
            </a:extLst>
          </p:cNvPr>
          <p:cNvSpPr txBox="1"/>
          <p:nvPr/>
        </p:nvSpPr>
        <p:spPr>
          <a:xfrm>
            <a:off x="8305016" y="864268"/>
            <a:ext cx="3796788" cy="65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spcBef>
                <a:spcPts val="1000"/>
              </a:spcBef>
              <a:defRPr/>
            </a:pPr>
            <a:r>
              <a:rPr lang="fr-CA" sz="2000" b="1"/>
              <a:t>Benefits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:</a:t>
            </a:r>
          </a:p>
          <a:p>
            <a:pPr marL="228600" lvl="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1600"/>
              <a:t>Gained insight into how the Programmable Logic (PL) signals asynchronous events to the Processing System (PS) via IRQ_F2P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  <a:p>
            <a:pPr marL="228600" lvl="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1600"/>
              <a:t>Learned to implement an Interrupt Service Routine (ISR) that runs independently of the main application loop.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  <a:p>
            <a:pPr marL="228600" lvl="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1600"/>
              <a:t>Gained experience writing to Control/Status registers (</a:t>
            </a:r>
            <a:r>
              <a:rPr lang="en-US"/>
              <a:t>TCSR</a:t>
            </a:r>
            <a:r>
              <a:rPr lang="en-US" sz="1600"/>
              <a:t>) and Load Registers (</a:t>
            </a:r>
            <a:r>
              <a:rPr lang="en-US"/>
              <a:t>TLR</a:t>
            </a:r>
            <a:r>
              <a:rPr lang="en-US" sz="1600"/>
              <a:t>) using pointer arithmetic while using dual timers.</a:t>
            </a:r>
          </a:p>
          <a:p>
            <a:pPr marL="228600" lvl="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prstClr val="black"/>
                </a:solidFill>
                <a:latin typeface="Neue Haas Grotesk Text Pro"/>
              </a:rPr>
              <a:t>Learned how to acknowledge and clear hardware interrupts through software.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CA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1359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921BDFC-1D0C-9045-066F-A58B84509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2630484"/>
            <a:ext cx="10653578" cy="1597031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PART 2 </a:t>
            </a:r>
            <a:br>
              <a:rPr lang="en-US" sz="5400" dirty="0"/>
            </a:br>
            <a:r>
              <a:rPr lang="fr-CA" sz="5400" dirty="0"/>
              <a:t>Direct Memory Access</a:t>
            </a:r>
          </a:p>
        </p:txBody>
      </p:sp>
    </p:spTree>
    <p:extLst>
      <p:ext uri="{BB962C8B-B14F-4D97-AF65-F5344CB8AC3E}">
        <p14:creationId xmlns:p14="http://schemas.microsoft.com/office/powerpoint/2010/main" val="3184201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BFA90-7B4E-451C-C966-351FAA59F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9161" y="2186796"/>
            <a:ext cx="2650760" cy="24844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Concept Diagram  Part 2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F515560-259B-124F-E459-8B8D077D6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629" y="596767"/>
            <a:ext cx="7294150" cy="56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16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04AD9-8FC9-1C6D-496C-437E0C359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CA66-829F-A200-3F29-00177B614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78" y="88203"/>
            <a:ext cx="9905998" cy="1905000"/>
          </a:xfrm>
        </p:spPr>
        <p:txBody>
          <a:bodyPr/>
          <a:lstStyle/>
          <a:p>
            <a:r>
              <a:rPr lang="en-US" dirty="0"/>
              <a:t>Flow Diagram - Part 2</a:t>
            </a:r>
            <a:endParaRPr lang="fr-CA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712C44F-D1D7-E63B-311D-D0A11FC44F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6713" y="1557196"/>
            <a:ext cx="1945755" cy="508889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FB180C3-0046-3FD6-693C-1EFC5ECB4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30" y="1680899"/>
            <a:ext cx="2845419" cy="266476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537284A-3B49-BEF3-E9F8-3BFDE958D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440" y="1692209"/>
            <a:ext cx="3007664" cy="494257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6D1CE38-D8D1-BB5B-98D6-2FFBF35EB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3561" y="1680898"/>
            <a:ext cx="2269761" cy="1598184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0FD3E133-4FF8-FB54-1344-BAAB1849B15D}"/>
              </a:ext>
            </a:extLst>
          </p:cNvPr>
          <p:cNvCxnSpPr>
            <a:cxnSpLocks/>
          </p:cNvCxnSpPr>
          <p:nvPr/>
        </p:nvCxnSpPr>
        <p:spPr>
          <a:xfrm>
            <a:off x="1783533" y="6769796"/>
            <a:ext cx="122221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D0C1539-E792-0372-F091-2A9235FF197A}"/>
              </a:ext>
            </a:extLst>
          </p:cNvPr>
          <p:cNvCxnSpPr/>
          <p:nvPr/>
        </p:nvCxnSpPr>
        <p:spPr>
          <a:xfrm>
            <a:off x="3005750" y="1557196"/>
            <a:ext cx="0" cy="521260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CD7F5815-411F-81B2-E3E2-D8F26E09BCB4}"/>
              </a:ext>
            </a:extLst>
          </p:cNvPr>
          <p:cNvCxnSpPr>
            <a:cxnSpLocks/>
          </p:cNvCxnSpPr>
          <p:nvPr/>
        </p:nvCxnSpPr>
        <p:spPr>
          <a:xfrm>
            <a:off x="3005750" y="1557196"/>
            <a:ext cx="1553289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9A67AB24-7CF1-E612-91D0-B2FBF1AE4ED5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4559039" y="1557196"/>
            <a:ext cx="1" cy="123703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DE3F26F8-DB2B-B2F5-97E5-AC2BDDACD920}"/>
              </a:ext>
            </a:extLst>
          </p:cNvPr>
          <p:cNvCxnSpPr>
            <a:cxnSpLocks/>
          </p:cNvCxnSpPr>
          <p:nvPr/>
        </p:nvCxnSpPr>
        <p:spPr>
          <a:xfrm>
            <a:off x="4472412" y="4426764"/>
            <a:ext cx="175513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266272B3-C3BA-E1B5-72E4-C350DFCA99F6}"/>
              </a:ext>
            </a:extLst>
          </p:cNvPr>
          <p:cNvCxnSpPr>
            <a:cxnSpLocks/>
          </p:cNvCxnSpPr>
          <p:nvPr/>
        </p:nvCxnSpPr>
        <p:spPr>
          <a:xfrm flipV="1">
            <a:off x="6227545" y="1619047"/>
            <a:ext cx="0" cy="280771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F2DDBD1D-F55C-C447-2386-FFCD46816C63}"/>
              </a:ext>
            </a:extLst>
          </p:cNvPr>
          <p:cNvCxnSpPr/>
          <p:nvPr/>
        </p:nvCxnSpPr>
        <p:spPr>
          <a:xfrm>
            <a:off x="6227545" y="1619047"/>
            <a:ext cx="1820986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681EF21D-4BA2-07F9-615B-FB360CA97348}"/>
              </a:ext>
            </a:extLst>
          </p:cNvPr>
          <p:cNvCxnSpPr>
            <a:cxnSpLocks/>
          </p:cNvCxnSpPr>
          <p:nvPr/>
        </p:nvCxnSpPr>
        <p:spPr>
          <a:xfrm>
            <a:off x="8057584" y="1619047"/>
            <a:ext cx="63374" cy="618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65BE0BE2-6485-C10B-526C-7C800A56D9D2}"/>
              </a:ext>
            </a:extLst>
          </p:cNvPr>
          <p:cNvCxnSpPr/>
          <p:nvPr/>
        </p:nvCxnSpPr>
        <p:spPr>
          <a:xfrm>
            <a:off x="8101159" y="6757077"/>
            <a:ext cx="1276539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BD7C72FD-DACC-FCFC-352B-2643DC017C48}"/>
              </a:ext>
            </a:extLst>
          </p:cNvPr>
          <p:cNvCxnSpPr>
            <a:cxnSpLocks/>
          </p:cNvCxnSpPr>
          <p:nvPr/>
        </p:nvCxnSpPr>
        <p:spPr>
          <a:xfrm flipV="1">
            <a:off x="9356998" y="1619047"/>
            <a:ext cx="20700" cy="513803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2BEF6220-4E12-BC38-7A08-4893802545E1}"/>
              </a:ext>
            </a:extLst>
          </p:cNvPr>
          <p:cNvCxnSpPr>
            <a:cxnSpLocks/>
          </p:cNvCxnSpPr>
          <p:nvPr/>
        </p:nvCxnSpPr>
        <p:spPr>
          <a:xfrm flipV="1">
            <a:off x="9334123" y="1607737"/>
            <a:ext cx="1385180" cy="4223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5E1C99C2-AEE7-E578-DA32-765B8687A84A}"/>
              </a:ext>
            </a:extLst>
          </p:cNvPr>
          <p:cNvCxnSpPr>
            <a:cxnSpLocks/>
          </p:cNvCxnSpPr>
          <p:nvPr/>
        </p:nvCxnSpPr>
        <p:spPr>
          <a:xfrm>
            <a:off x="4472412" y="4255129"/>
            <a:ext cx="0" cy="17163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8397DC7E-7F50-442A-A7CB-39FDDA298C03}"/>
              </a:ext>
            </a:extLst>
          </p:cNvPr>
          <p:cNvCxnSpPr>
            <a:stCxn id="11" idx="0"/>
            <a:endCxn id="11" idx="0"/>
          </p:cNvCxnSpPr>
          <p:nvPr/>
        </p:nvCxnSpPr>
        <p:spPr>
          <a:xfrm>
            <a:off x="10718442" y="168089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E0BDF0DF-6DF7-7D87-B018-5BA62A0ECF16}"/>
              </a:ext>
            </a:extLst>
          </p:cNvPr>
          <p:cNvCxnSpPr>
            <a:stCxn id="11" idx="0"/>
          </p:cNvCxnSpPr>
          <p:nvPr/>
        </p:nvCxnSpPr>
        <p:spPr>
          <a:xfrm>
            <a:off x="10718442" y="1680898"/>
            <a:ext cx="9914" cy="138849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19EAD0D0-06D3-B16C-327B-2EBE9F632777}"/>
              </a:ext>
            </a:extLst>
          </p:cNvPr>
          <p:cNvCxnSpPr/>
          <p:nvPr/>
        </p:nvCxnSpPr>
        <p:spPr>
          <a:xfrm flipV="1">
            <a:off x="8120958" y="6634782"/>
            <a:ext cx="0" cy="13501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68228157-C726-BD9C-79B9-A202B7387A64}"/>
              </a:ext>
            </a:extLst>
          </p:cNvPr>
          <p:cNvCxnSpPr>
            <a:cxnSpLocks/>
          </p:cNvCxnSpPr>
          <p:nvPr/>
        </p:nvCxnSpPr>
        <p:spPr>
          <a:xfrm>
            <a:off x="1783533" y="6527549"/>
            <a:ext cx="0" cy="24224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239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0B46D7-0208-7BC2-F457-F7A1172C8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497E-6B0D-82EC-8831-EF07D067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035" y="2530353"/>
            <a:ext cx="5978072" cy="13295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Results - Part 2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AEE9CAC-347C-43C2-AE87-6BC5566E6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F32EC8E2-3B72-116B-48B9-9408B4C78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208" y="56427"/>
            <a:ext cx="4350618" cy="674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086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70FE4-D61F-DBF5-29CC-A93AEC879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79880-C6A7-DDA7-88B1-A19BF1ABE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Benefits, Difficulties, Limitations - Part 2</a:t>
            </a:r>
            <a:endParaRPr lang="fr-CA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F824EFF-CBBC-A9BC-45D7-138E7B3DF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302684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u="sng" dirty="0" err="1">
                <a:solidFill>
                  <a:schemeClr val="tx1"/>
                </a:solidFill>
              </a:rPr>
              <a:t>Benefits</a:t>
            </a:r>
            <a:r>
              <a:rPr lang="fr-CA" sz="2000" u="sng" dirty="0">
                <a:solidFill>
                  <a:schemeClr val="tx1"/>
                </a:solidFill>
              </a:rPr>
              <a:t>:</a:t>
            </a:r>
          </a:p>
          <a:p>
            <a:r>
              <a:rPr lang="en-US" sz="1400" dirty="0"/>
              <a:t>Deeper understanding of AXI CDMA operation</a:t>
            </a:r>
          </a:p>
          <a:p>
            <a:r>
              <a:rPr lang="en-US" sz="1400" dirty="0"/>
              <a:t>Use the AXI Timer to measure execution cycles</a:t>
            </a:r>
          </a:p>
          <a:p>
            <a:r>
              <a:rPr lang="fr-CA" sz="1400" dirty="0" err="1"/>
              <a:t>Compute</a:t>
            </a:r>
            <a:r>
              <a:rPr lang="fr-CA" sz="1400" dirty="0"/>
              <a:t> </a:t>
            </a:r>
            <a:r>
              <a:rPr lang="fr-CA" sz="1400" dirty="0" err="1"/>
              <a:t>speedup</a:t>
            </a:r>
            <a:endParaRPr lang="en-US" sz="1400" dirty="0"/>
          </a:p>
          <a:p>
            <a:r>
              <a:rPr lang="en-US" sz="1400" dirty="0"/>
              <a:t>Hands-on experience with low-level hardware registers</a:t>
            </a:r>
          </a:p>
          <a:p>
            <a:r>
              <a:rPr lang="fr-CA" sz="1400" dirty="0"/>
              <a:t>Cache management </a:t>
            </a:r>
            <a:r>
              <a:rPr lang="fr-CA" sz="1400" dirty="0" err="1"/>
              <a:t>awareness</a:t>
            </a:r>
            <a:endParaRPr lang="fr-CA" sz="1400" dirty="0"/>
          </a:p>
          <a:p>
            <a:r>
              <a:rPr lang="en-US" sz="1400" dirty="0"/>
              <a:t>Interpret how hardware acceleration impacts system efficiency</a:t>
            </a:r>
            <a:endParaRPr lang="fr-CA" sz="1400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5155FB9-C02E-78B4-5EFD-48CEA4178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99313" y="2213282"/>
            <a:ext cx="3026844" cy="2431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000" u="sng" dirty="0" err="1">
                <a:solidFill>
                  <a:schemeClr val="tx1"/>
                </a:solidFill>
              </a:rPr>
              <a:t>Difficulties</a:t>
            </a:r>
            <a:r>
              <a:rPr lang="fr-CA" sz="2000" u="sng" dirty="0">
                <a:solidFill>
                  <a:schemeClr val="tx1"/>
                </a:solidFill>
              </a:rPr>
              <a:t>:</a:t>
            </a:r>
          </a:p>
          <a:p>
            <a:r>
              <a:rPr lang="en-US" sz="1400" dirty="0"/>
              <a:t>CDMA reset and idle bit behavior</a:t>
            </a:r>
          </a:p>
          <a:p>
            <a:r>
              <a:rPr lang="fr-CA" sz="1400" dirty="0" err="1"/>
              <a:t>Managing</a:t>
            </a:r>
            <a:r>
              <a:rPr lang="fr-CA" sz="1400" dirty="0"/>
              <a:t> cache </a:t>
            </a:r>
            <a:r>
              <a:rPr lang="fr-CA" sz="1400" dirty="0" err="1"/>
              <a:t>coherency</a:t>
            </a:r>
            <a:endParaRPr lang="fr-CA" sz="1400" dirty="0"/>
          </a:p>
          <a:p>
            <a:r>
              <a:rPr lang="en-US" sz="1400" dirty="0"/>
              <a:t>Setting up correct memory addresses</a:t>
            </a:r>
          </a:p>
          <a:p>
            <a:r>
              <a:rPr lang="fr-CA" sz="1400" dirty="0" err="1"/>
              <a:t>Interpreting</a:t>
            </a:r>
            <a:r>
              <a:rPr lang="fr-CA" sz="1400" dirty="0"/>
              <a:t> </a:t>
            </a:r>
            <a:r>
              <a:rPr lang="fr-CA" sz="1400" dirty="0" err="1"/>
              <a:t>timer</a:t>
            </a:r>
            <a:r>
              <a:rPr lang="fr-CA" sz="1400" dirty="0"/>
              <a:t> </a:t>
            </a:r>
            <a:r>
              <a:rPr lang="fr-CA" sz="1400" dirty="0" err="1"/>
              <a:t>results</a:t>
            </a:r>
            <a:endParaRPr lang="fr-CA" sz="1400" dirty="0"/>
          </a:p>
          <a:p>
            <a:pPr marL="0" indent="0">
              <a:buNone/>
            </a:pPr>
            <a:endParaRPr lang="fr-CA" sz="1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68BD216-51BB-2E20-E24D-DACCC52F4D60}"/>
              </a:ext>
            </a:extLst>
          </p:cNvPr>
          <p:cNvSpPr txBox="1"/>
          <p:nvPr/>
        </p:nvSpPr>
        <p:spPr>
          <a:xfrm>
            <a:off x="7785978" y="2213283"/>
            <a:ext cx="302684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u="sng" dirty="0"/>
              <a:t>Limitations:</a:t>
            </a:r>
          </a:p>
          <a:p>
            <a:endParaRPr lang="fr-CA" sz="1400" u="sng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Use of simple DMA mode only, no scatter-gather mode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Maximum transfer size restricted by the BTT register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Limited support for complex memory access patterns</a:t>
            </a:r>
            <a:endParaRPr lang="fr-CA" sz="1400" dirty="0"/>
          </a:p>
        </p:txBody>
      </p:sp>
    </p:spTree>
    <p:extLst>
      <p:ext uri="{BB962C8B-B14F-4D97-AF65-F5344CB8AC3E}">
        <p14:creationId xmlns:p14="http://schemas.microsoft.com/office/powerpoint/2010/main" val="324163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4B381-BB29-D795-F449-E17565AD6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Partners Contribution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91DA4-F0A7-D61F-B3C9-23BE96F3D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Equitable Workload:</a:t>
            </a:r>
            <a:r>
              <a:rPr lang="en-US"/>
              <a:t> Split technical tasks 50/50 based on module complexity.</a:t>
            </a:r>
          </a:p>
          <a:p>
            <a:r>
              <a:rPr lang="en-US" b="1"/>
              <a:t>Simon's Focus (Part 1):</a:t>
            </a:r>
            <a:r>
              <a:rPr lang="en-US"/>
              <a:t> Engineered AXI Timer logic, and C++ Interrupt Service Routines.</a:t>
            </a:r>
          </a:p>
          <a:p>
            <a:r>
              <a:rPr lang="en-US" b="1"/>
              <a:t>Derek's Focus (Part 2):</a:t>
            </a:r>
            <a:r>
              <a:rPr lang="en-US"/>
              <a:t> Managed AXI CDMA operations, DMA transfers.</a:t>
            </a:r>
          </a:p>
          <a:p>
            <a:r>
              <a:rPr lang="en-US" b="1"/>
              <a:t>Joint Effort:</a:t>
            </a:r>
            <a:r>
              <a:rPr lang="en-US"/>
              <a:t> Equal work on the lab work, lab report, and presentation.</a:t>
            </a:r>
          </a:p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97961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B8145-CFFE-1695-3DA4-5B1313F93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54D03-3F1D-41EE-B068-EE3B9DEF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Individual,Team Cooperation, Adherence to work ethics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502E0-30EF-9365-D737-3ADD02144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Peer-Review Workflow:</a:t>
            </a:r>
            <a:r>
              <a:rPr lang="en-US"/>
              <a:t> Debugged each other’s code (e.g., Timer load sequences vs. CDMA idle bits) to ensure system reliability.</a:t>
            </a:r>
          </a:p>
          <a:p>
            <a:r>
              <a:rPr lang="en-US" b="1"/>
              <a:t>Strict Time Management:</a:t>
            </a:r>
            <a:r>
              <a:rPr lang="en-US"/>
              <a:t> Enforced internal deadlines to deliver the work on time, communicated fast and effectively to get the work done.</a:t>
            </a:r>
          </a:p>
          <a:p>
            <a:r>
              <a:rPr lang="en-US" b="1"/>
              <a:t>Knowledge Sharing:</a:t>
            </a:r>
            <a:r>
              <a:rPr lang="en-US"/>
              <a:t> We made sure to explain our specific parts to each other so we both understood the full lab, not just half of it.</a:t>
            </a:r>
          </a:p>
        </p:txBody>
      </p:sp>
    </p:spTree>
    <p:extLst>
      <p:ext uri="{BB962C8B-B14F-4D97-AF65-F5344CB8AC3E}">
        <p14:creationId xmlns:p14="http://schemas.microsoft.com/office/powerpoint/2010/main" val="296275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A3859-51ED-22DF-FCE8-3C580598A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7B55-B300-C89A-F1B4-93766E0B8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Partners initiatives and leadership skills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4CD8F-DCE2-B54C-FA43-BFAC24773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Proper Research:</a:t>
            </a:r>
            <a:r>
              <a:rPr lang="en-US"/>
              <a:t> We thoroughly read the Xilinx datasheets to figure out the register bits together.</a:t>
            </a:r>
          </a:p>
          <a:p>
            <a:r>
              <a:rPr lang="en-US" b="1"/>
              <a:t>Project Management:</a:t>
            </a:r>
            <a:r>
              <a:rPr lang="en-US"/>
              <a:t> We took the lead in assessing the lab requirements and dividing the workload efficiently right from the start.</a:t>
            </a:r>
          </a:p>
          <a:p>
            <a:r>
              <a:rPr lang="en-US" b="1"/>
              <a:t>Accountability and Ownership:</a:t>
            </a:r>
            <a:r>
              <a:rPr lang="en-US"/>
              <a:t> We made sure to start early to have enough time to explain the lab to each other and complete our lab report and presentation way before the deadline.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622301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7E0C0-68A6-E4A2-FA6D-97DC4794A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DCC716-01C3-7D92-EC1F-3CC2A155F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olographic neon on a shiny background">
            <a:extLst>
              <a:ext uri="{FF2B5EF4-FFF2-40B4-BE49-F238E27FC236}">
                <a16:creationId xmlns:a16="http://schemas.microsoft.com/office/drawing/2014/main" id="{107C23FE-B439-82BB-FD56-2BE6F2A3A8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608" b="122"/>
          <a:stretch>
            <a:fillRect/>
          </a:stretch>
        </p:blipFill>
        <p:spPr>
          <a:xfrm>
            <a:off x="-181069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FA9ED5-8EEC-F586-2841-68FD92A90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4566" y="380247"/>
            <a:ext cx="11090495" cy="40468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COEN 317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LAB 4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sz="5400" dirty="0">
                <a:solidFill>
                  <a:srgbClr val="FFFFFF"/>
                </a:solidFill>
              </a:rPr>
              <a:t> </a:t>
            </a:r>
            <a:br>
              <a:rPr lang="en-US" sz="5400">
                <a:solidFill>
                  <a:srgbClr val="FFFFFF"/>
                </a:solidFill>
              </a:rPr>
            </a:br>
            <a:r>
              <a:rPr lang="en-US" sz="5400">
                <a:solidFill>
                  <a:srgbClr val="FFFFFF"/>
                </a:solidFill>
              </a:rPr>
              <a:t>Thank you</a:t>
            </a:r>
            <a:br>
              <a:rPr lang="en-US" sz="5400" dirty="0">
                <a:solidFill>
                  <a:srgbClr val="FFFFFF"/>
                </a:solidFill>
              </a:rPr>
            </a:br>
            <a:endParaRPr lang="fr-CA" sz="5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424D7-0A76-3FEE-727C-44BFE825D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5269651"/>
            <a:ext cx="7588155" cy="1414091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Simon Guindon - 40058301 </a:t>
            </a:r>
            <a:br>
              <a:rPr lang="en-US" sz="2200" dirty="0">
                <a:solidFill>
                  <a:srgbClr val="FFFFFF"/>
                </a:solidFill>
              </a:rPr>
            </a:br>
            <a:r>
              <a:rPr lang="en-US" sz="2200" dirty="0">
                <a:solidFill>
                  <a:srgbClr val="FFFFFF"/>
                </a:solidFill>
              </a:rPr>
              <a:t>Derek Saint-Jean - 40286262</a:t>
            </a:r>
            <a:endParaRPr lang="fr-CA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1965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Ardoise">
  <a:themeElements>
    <a:clrScheme name="Ardois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ois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ois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3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4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5.xml><?xml version="1.0" encoding="utf-8"?>
<a:theme xmlns:a="http://schemas.openxmlformats.org/drawingml/2006/main" name="1_Ardoise">
  <a:themeElements>
    <a:clrScheme name="Ardois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ois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ois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6.xml><?xml version="1.0" encoding="utf-8"?>
<a:theme xmlns:a="http://schemas.openxmlformats.org/drawingml/2006/main" name="Maillage">
  <a:themeElements>
    <a:clrScheme name="Maillage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illag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illag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TM04033937[[fn=Traînée de condensation]]</Template>
  <TotalTime>280</TotalTime>
  <Words>630</Words>
  <Application>Microsoft Office PowerPoint</Application>
  <PresentationFormat>Widescreen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Arial</vt:lpstr>
      <vt:lpstr>Calisto MT</vt:lpstr>
      <vt:lpstr>Century Gothic</vt:lpstr>
      <vt:lpstr>Gill Sans MT</vt:lpstr>
      <vt:lpstr>Neue Haas Grotesk Text Pro</vt:lpstr>
      <vt:lpstr>Trebuchet MS</vt:lpstr>
      <vt:lpstr>Wingdings</vt:lpstr>
      <vt:lpstr>Wingdings 2</vt:lpstr>
      <vt:lpstr>VanillaVTI</vt:lpstr>
      <vt:lpstr>Ardoise</vt:lpstr>
      <vt:lpstr>Berlin</vt:lpstr>
      <vt:lpstr>Dividende</vt:lpstr>
      <vt:lpstr>1_Ardoise</vt:lpstr>
      <vt:lpstr>Maillage</vt:lpstr>
      <vt:lpstr>COEN 317  LAB 4    PRESENTATION </vt:lpstr>
      <vt:lpstr>PART 1 Interrupts with the AXI Timer</vt:lpstr>
      <vt:lpstr>Concept Diagram - Part 1</vt:lpstr>
      <vt:lpstr>Flow Diagram - Part 1</vt:lpstr>
      <vt:lpstr>Results - Part 1</vt:lpstr>
      <vt:lpstr>Benefits, Difficulties, Limitations - Part 1</vt:lpstr>
      <vt:lpstr>PART 2  Direct Memory Access</vt:lpstr>
      <vt:lpstr>Concept Diagram  Part 2</vt:lpstr>
      <vt:lpstr>Flow Diagram - Part 2</vt:lpstr>
      <vt:lpstr>Results - Part 2</vt:lpstr>
      <vt:lpstr>Benefits, Difficulties, Limitations - Part 2</vt:lpstr>
      <vt:lpstr>Partners Contribution</vt:lpstr>
      <vt:lpstr>Individual,Team Cooperation, Adherence to work ethics</vt:lpstr>
      <vt:lpstr>Partners initiatives and leadership skills</vt:lpstr>
      <vt:lpstr>COEN 317  LAB 4 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Guindon</dc:creator>
  <cp:lastModifiedBy>Simon Guindon</cp:lastModifiedBy>
  <cp:revision>6</cp:revision>
  <dcterms:created xsi:type="dcterms:W3CDTF">2025-11-21T06:17:04Z</dcterms:created>
  <dcterms:modified xsi:type="dcterms:W3CDTF">2025-11-29T02:11:50Z</dcterms:modified>
</cp:coreProperties>
</file>